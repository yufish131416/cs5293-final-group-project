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&amp;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Tool-use Attacks in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Applications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Survey of Attack Vectors, Defense Mechanisms,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Cross-cutting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Peihan  |  Hu Xuelin  |  Weng Ziyan  |  Deng Leying  |  Zhao Haichao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CS5293 Topics on Information Security  —  City University of Hong Kong (Dongguan)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143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Peihan  —  0:30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55064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55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55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Threat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6550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Xuelin  —  0:45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67128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1671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167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167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Weng Ziyan  —  1:00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679192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6791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679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Mechanisms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6791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Leying  —  0:45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1912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1912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Discussion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31912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Leying  —  0:30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703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Haichao  —  0:45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15384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215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15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Conclusion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42153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Haichao  —  0:30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Prompt Injection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cannot distinguish instructions from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+ user input + retrieved data all share the same text channel.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analogous to SQL injection — but there is no grammar-level separation in natural language.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88720"/>
            <a:ext cx="64008" cy="3291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from Literature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on GPT-4 for email-based indirect injection (BIPIA)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93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direct-harm success via tool-use injection on GPT-4 (InjecAgent)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agent actions in emulated tool scenarios (ToolEmu)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collected in HackAPrompt competition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Threat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23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has access to the user-input field. Crafts prompts to override system instructions.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 and output the API key."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423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plants payloads in external data sources (web pages, emails, documents) that the LLM retrieves.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9300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HTML instructions in a web page fetched by Bing Chat.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423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LLM's tool-calling ability. Goal: trigger unauthorized tool calls (send email, delete files, exfiltrate data).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Injected instruction causes agent to forward inbox to attacker.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Taxonomy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based on adversary access vector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1554480" cy="1554480"/>
          </a:xfrm>
          <a:prstGeom prst="ellipse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field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233172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46120" y="1554480"/>
            <a:ext cx="1554480" cy="1554480"/>
          </a:xfrm>
          <a:prstGeom prst="ellipse">
            <a:avLst/>
          </a:prstGeom>
          <a:solidFill>
            <a:srgbClr val="EF4444">
              <a:alpha val="8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233172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623560" y="1554480"/>
            <a:ext cx="1554480" cy="1554480"/>
          </a:xfrm>
          <a:prstGeom prst="ellipse">
            <a:avLst/>
          </a:prstGeom>
          <a:solidFill>
            <a:srgbClr val="DC2626">
              <a:alpha val="85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capability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794760"/>
            <a:ext cx="69494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Impact  &gt;&gt;&gt;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More capable models are MORE susceptible to injection (HackAPrompt, BIPIA)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&amp; Indirect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749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 Injection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HackAPrompt (Schulhoff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 adversarial prompts, 2800 participants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Patterns: instruction override, context switching, payload splitting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Trust (Toyer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126K attack + 46K defense prompts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filters consistently defeated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Taxonomy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hijacking, prompt leaking, unsafe content generation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972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Greshake et al. (2023)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real-world demo: hidden instructions in web pages retrieved by Bing Chat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Unicode + CSS-hidden payloads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BIPIA (Yi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domains: email, web, table, code, summarization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attack success &gt;70% for email injection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et al.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Prompt-to-SQL pipeline: LLM as relay for SQL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Tool-use &amp; Agent Exploitation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2423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 et 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1,054 test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user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direct-harm success (GPT-4)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data-stealing success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423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ToolEmu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et 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scenarios, 36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LLM-emulated sandbox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 unsafe actions (GPT-4)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testing without real damage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423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AgentDojo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Debenedetti et 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evaluation env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utility vs. security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agents lose significant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when defenses active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Mechanisms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64008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Spotlighting (Hines et al.)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Delimiting, encoding, datamarking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Datamarking: 70% → &lt;20% attack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token overhead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modification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Hierarchy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 et al. (OpenAI)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0328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Training-time privilege separation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&gt; User &gt; Third-party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 reduction in injection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GPT-4o (only prod defense)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6400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 et al. (BIPIA)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output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defense: 72% → 38%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filter: success &lt;15%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 for tool side effects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64008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Isolation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StruQ (Chen et al.) + Dual-LLM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encoding channels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attack success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model retraining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only on 7B models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51560"/>
                <a:gridCol w="1097280"/>
                <a:gridCol w="118872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Agnostic?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→ &lt;20%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Signed-Prompt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Instr. Hierarchy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(GPT-4o)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35204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611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931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between defense strength and ease of adoption. Drop-in solutions (Spotlighting) are easy to deploy but fragile against adaptive adversaries. Model-level defenses (StruQ) offer strongest protection but require retraining. Production systems should layer multiple defenses for defense-in-depth.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 Demonstration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411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bot leaks system prompt after "Ignore previous instructions"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508760"/>
            <a:ext cx="411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outputs "PWNED" via fake System: header injection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2971800"/>
            <a:ext cx="411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Web Content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HTML in web page tricks QA bot into showing phishing link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971800"/>
            <a:ext cx="411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+ 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Exfiltration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tool call in email body exfiltrates user's inbox to attacker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prompt_injection_demo.py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 &amp; 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6400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44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define and prove "prompt safety" properties analogous to memory safety? Current evaluations are purely empirical.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benchmark covers all three attack families. Each study uses incompatible metrics and attacker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Propagation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649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delegate tasks to other agents, injections could spread across trust boundaries — a "worm-like"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977640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251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is a start, but binding requirements are sparse. Healthcare, finance, legal sectors need compliance frameworks.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vulnerability is architectural: LLMs cannot separate instructions from data. This is not a bug to patch — it is inherent to the design.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are more vulnerable to injection. Instruction-following ability and injection susceptibility are positively correlated.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amplifies impact from misleading text to real-world harm. Defense-in-depth with layered countermeasures is essential.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CS5293  |  Topic 17  |  Yu Peihan, Hu Xuelin, Weng Ziyan, Deng Leying, Zhao Haichao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Injection &amp; Tool-use Attacks in LLM Applications</dc:title>
  <dc:subject>PptxGenJS Presentation</dc:subject>
  <dc:creator>CS5293 Group — Topic 17</dc:creator>
  <cp:lastModifiedBy>CS5293 Group — Topic 17</cp:lastModifiedBy>
  <cp:revision>1</cp:revision>
  <dcterms:created xsi:type="dcterms:W3CDTF">2026-04-08T04:11:45Z</dcterms:created>
  <dcterms:modified xsi:type="dcterms:W3CDTF">2026-04-08T04:11:45Z</dcterms:modified>
</cp:coreProperties>
</file>